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89120" y="0"/>
            <a:ext cx="274320" cy="6858000"/>
          </a:xfrm>
          <a:prstGeom prst="rect">
            <a:avLst/>
          </a:prstGeom>
          <a:solidFill>
            <a:srgbClr val="E8A020">
              <a:alpha val="6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7315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E8A02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31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🚛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8046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07899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 DASHBOARD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Improvement Plan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66928" y="26517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Reversing the decline — strategy, actions, and</a:t>
            </a:r>
            <a:endParaRPr lang="en-US" sz="13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Promotions App integration roadmap.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493008"/>
            <a:ext cx="3749040" cy="347472"/>
          </a:xfrm>
          <a:prstGeom prst="rect">
            <a:avLst/>
          </a:prstGeom>
          <a:solidFill>
            <a:srgbClr val="E84040">
              <a:alpha val="12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34930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YTD Adds ▼24.0% vs 2025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3968496"/>
            <a:ext cx="3749040" cy="34747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9684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Redemption Rate ▼2.4pp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4443984"/>
            <a:ext cx="3749040" cy="347472"/>
          </a:xfrm>
          <a:prstGeom prst="rect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4439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 Promotions: Q3–Q4 2026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" y="64922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2026 (Jan–Mar)  ·  vs same period 2025  ·  Internal Review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972800" y="228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10058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SNAPSHOT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0" y="1261872"/>
            <a:ext cx="6858000" cy="0"/>
          </a:xfrm>
          <a:prstGeom prst="line">
            <a:avLst/>
          </a:prstGeom>
          <a:noFill/>
          <a:ln w="12700">
            <a:solidFill>
              <a:srgbClr val="252E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0" y="1371600"/>
            <a:ext cx="3291840" cy="1572768"/>
          </a:xfrm>
          <a:prstGeom prst="rect">
            <a:avLst/>
          </a:prstGeom>
          <a:solidFill>
            <a:srgbClr val="181C27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1371600"/>
            <a:ext cx="64008" cy="157276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51790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ADDS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212080" y="171907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$138K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5212080" y="2414016"/>
            <a:ext cx="3017520" cy="256032"/>
          </a:xfrm>
          <a:prstGeom prst="rect">
            <a:avLst/>
          </a:prstGeom>
          <a:solidFill>
            <a:srgbClr val="E84040">
              <a:alpha val="12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24140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24.0% vs 2025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49640" y="1371600"/>
            <a:ext cx="3291840" cy="1572768"/>
          </a:xfrm>
          <a:prstGeom prst="rect">
            <a:avLst/>
          </a:prstGeom>
          <a:solidFill>
            <a:srgbClr val="181C27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549640" y="1371600"/>
            <a:ext cx="64008" cy="157276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32520" y="1517904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REDEEMS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732520" y="1719072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$97K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8732520" y="2414016"/>
            <a:ext cx="3017520" cy="256032"/>
          </a:xfrm>
          <a:prstGeom prst="rect">
            <a:avLst/>
          </a:prstGeom>
          <a:solidFill>
            <a:srgbClr val="E84040">
              <a:alpha val="12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2520" y="241401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26.5% vs 2025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29200" y="3090672"/>
            <a:ext cx="3291840" cy="1572768"/>
          </a:xfrm>
          <a:prstGeom prst="rect">
            <a:avLst/>
          </a:prstGeom>
          <a:solidFill>
            <a:srgbClr val="181C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0" y="3090672"/>
            <a:ext cx="64008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2369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RATE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212080" y="3438144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70.10%</a:t>
            </a:r>
            <a:endParaRPr lang="en-US" sz="3600" dirty="0"/>
          </a:p>
        </p:txBody>
      </p:sp>
      <p:sp>
        <p:nvSpPr>
          <p:cNvPr id="37" name="Shape 35"/>
          <p:cNvSpPr/>
          <p:nvPr/>
        </p:nvSpPr>
        <p:spPr>
          <a:xfrm>
            <a:off x="5212080" y="4133088"/>
            <a:ext cx="3017520" cy="25603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12080" y="41330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2.4pp vs 2025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549640" y="3090672"/>
            <a:ext cx="3291840" cy="1572768"/>
          </a:xfrm>
          <a:prstGeom prst="rect">
            <a:avLst/>
          </a:prstGeom>
          <a:solidFill>
            <a:srgbClr val="181C27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549640" y="3090672"/>
            <a:ext cx="64008" cy="157276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32520" y="3236976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GALLONS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732520" y="3438144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12.47M</a:t>
            </a:r>
            <a:endParaRPr lang="en-US" sz="3600" dirty="0"/>
          </a:p>
        </p:txBody>
      </p:sp>
      <p:sp>
        <p:nvSpPr>
          <p:cNvPr id="43" name="Shape 41"/>
          <p:cNvSpPr/>
          <p:nvPr/>
        </p:nvSpPr>
        <p:spPr>
          <a:xfrm>
            <a:off x="8732520" y="4133088"/>
            <a:ext cx="3017520" cy="256032"/>
          </a:xfrm>
          <a:prstGeom prst="rect">
            <a:avLst/>
          </a:prstGeom>
          <a:solidFill>
            <a:srgbClr val="E84040">
              <a:alpha val="12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32520" y="41330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21.3% vs 2025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29200" y="4809744"/>
            <a:ext cx="3291840" cy="1572768"/>
          </a:xfrm>
          <a:prstGeom prst="rect">
            <a:avLst/>
          </a:prstGeom>
          <a:solidFill>
            <a:srgbClr val="181C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29200" y="4809744"/>
            <a:ext cx="64008" cy="15727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495604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DELTA (OWED)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212080" y="515721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$41K</a:t>
            </a:r>
            <a:endParaRPr lang="en-US" sz="3600" dirty="0"/>
          </a:p>
        </p:txBody>
      </p:sp>
      <p:sp>
        <p:nvSpPr>
          <p:cNvPr id="49" name="Shape 47"/>
          <p:cNvSpPr/>
          <p:nvPr/>
        </p:nvSpPr>
        <p:spPr>
          <a:xfrm>
            <a:off x="5212080" y="5852160"/>
            <a:ext cx="3017520" cy="256032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58521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+ Feb + Mar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8549640" y="4809744"/>
            <a:ext cx="3291840" cy="1572768"/>
          </a:xfrm>
          <a:prstGeom prst="rect">
            <a:avLst/>
          </a:prstGeom>
          <a:solidFill>
            <a:srgbClr val="181C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549640" y="4809744"/>
            <a:ext cx="64008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32520" y="495604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LOCATIONS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732520" y="5157216"/>
            <a:ext cx="30175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42/50</a:t>
            </a:r>
            <a:endParaRPr lang="en-US" sz="3600" dirty="0"/>
          </a:p>
        </p:txBody>
      </p:sp>
      <p:sp>
        <p:nvSpPr>
          <p:cNvPr id="55" name="Shape 53"/>
          <p:cNvSpPr/>
          <p:nvPr/>
        </p:nvSpPr>
        <p:spPr>
          <a:xfrm>
            <a:off x="8732520" y="5852160"/>
            <a:ext cx="3017520" cy="256032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732520" y="58521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inactive this month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F1117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91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8A02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91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29260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 DASHBOARD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YTD 2026 · Jan–Mar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1556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731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— YTD 2026 vs 2025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11704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metric is down year-over-year. The program is declining on both sides — adds and redeems.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36192"/>
            <a:ext cx="11430000" cy="475488"/>
          </a:xfrm>
          <a:prstGeom prst="rect">
            <a:avLst/>
          </a:prstGeom>
          <a:solidFill>
            <a:srgbClr val="E84040">
              <a:alpha val="12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536192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Network in Decline — Immediate Action Required  ·  YTD Adds ▼24.0%  ·  Redeems ▼26.5%  ·  Gallons ▼21.3%  ·  March redemption rate collapsed to 60.25% (from 74.94% in February)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148840"/>
            <a:ext cx="3642360" cy="1325880"/>
          </a:xfrm>
          <a:prstGeom prst="rect">
            <a:avLst/>
          </a:prstGeom>
          <a:solidFill>
            <a:srgbClr val="181C27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48840"/>
            <a:ext cx="64008" cy="132588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267712"/>
            <a:ext cx="341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ADDED (YTD)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30352" y="2450592"/>
            <a:ext cx="341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$138,071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30352" y="2862072"/>
            <a:ext cx="341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YTD: $181,633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0352" y="3182112"/>
            <a:ext cx="3322320" cy="201168"/>
          </a:xfrm>
          <a:prstGeom prst="rect">
            <a:avLst/>
          </a:prstGeom>
          <a:solidFill>
            <a:srgbClr val="E84040">
              <a:alpha val="12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182112"/>
            <a:ext cx="332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24.0%  ·  –$43,562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172712" y="2148840"/>
            <a:ext cx="3642360" cy="1325880"/>
          </a:xfrm>
          <a:prstGeom prst="rect">
            <a:avLst/>
          </a:prstGeom>
          <a:solidFill>
            <a:srgbClr val="181C27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72712" y="2148840"/>
            <a:ext cx="64008" cy="132588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37304" y="2267712"/>
            <a:ext cx="341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REDEEMED (YTD)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337304" y="2450592"/>
            <a:ext cx="341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$96,782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337304" y="2862072"/>
            <a:ext cx="341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YTD: $131,725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37304" y="3182112"/>
            <a:ext cx="3322320" cy="201168"/>
          </a:xfrm>
          <a:prstGeom prst="rect">
            <a:avLst/>
          </a:prstGeom>
          <a:solidFill>
            <a:srgbClr val="E84040">
              <a:alpha val="12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7304" y="3182112"/>
            <a:ext cx="332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26.5%  ·  –$34,943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79664" y="2148840"/>
            <a:ext cx="3642360" cy="1325880"/>
          </a:xfrm>
          <a:prstGeom prst="rect">
            <a:avLst/>
          </a:prstGeom>
          <a:solidFill>
            <a:srgbClr val="181C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79664" y="214884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44256" y="2267712"/>
            <a:ext cx="341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RATE (YTD)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144256" y="2450592"/>
            <a:ext cx="341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70.10%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8144256" y="2862072"/>
            <a:ext cx="341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collapsed: 60.25%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144256" y="3182112"/>
            <a:ext cx="3322320" cy="201168"/>
          </a:xfrm>
          <a:prstGeom prst="rect">
            <a:avLst/>
          </a:prstGeom>
          <a:solidFill>
            <a:srgbClr val="E84040">
              <a:alpha val="12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44256" y="3182112"/>
            <a:ext cx="332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2.4pp vs 2025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3639312"/>
            <a:ext cx="3642360" cy="1325880"/>
          </a:xfrm>
          <a:prstGeom prst="rect">
            <a:avLst/>
          </a:prstGeom>
          <a:solidFill>
            <a:srgbClr val="181C27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3639312"/>
            <a:ext cx="64008" cy="132588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758184"/>
            <a:ext cx="341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GALLONS (YTD)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0352" y="3941064"/>
            <a:ext cx="341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12.47M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530352" y="4352544"/>
            <a:ext cx="341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YTD: 15.84M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0352" y="4672584"/>
            <a:ext cx="3322320" cy="201168"/>
          </a:xfrm>
          <a:prstGeom prst="rect">
            <a:avLst/>
          </a:prstGeom>
          <a:solidFill>
            <a:srgbClr val="E84040">
              <a:alpha val="12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0352" y="4672584"/>
            <a:ext cx="332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21.3%  ·  –3.37M gal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72712" y="3639312"/>
            <a:ext cx="3642360" cy="1325880"/>
          </a:xfrm>
          <a:prstGeom prst="rect">
            <a:avLst/>
          </a:prstGeom>
          <a:solidFill>
            <a:srgbClr val="181C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172712" y="3639312"/>
            <a:ext cx="64008" cy="1325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37304" y="3758184"/>
            <a:ext cx="341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DELTA (OWED YTD)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337304" y="3941064"/>
            <a:ext cx="341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$41,289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4337304" y="4352544"/>
            <a:ext cx="341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$11.7K · Feb $11.6K · Mar $18K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337304" y="4672584"/>
            <a:ext cx="3322320" cy="201168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37304" y="4672584"/>
            <a:ext cx="332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minus Redeems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979664" y="3639312"/>
            <a:ext cx="3642360" cy="1325880"/>
          </a:xfrm>
          <a:prstGeom prst="rect">
            <a:avLst/>
          </a:prstGeom>
          <a:solidFill>
            <a:srgbClr val="181C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979664" y="3639312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44256" y="3758184"/>
            <a:ext cx="3413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LOCATIONS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144256" y="3941064"/>
            <a:ext cx="341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50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8144256" y="4352544"/>
            <a:ext cx="3413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below 50% rate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8144256" y="4672584"/>
            <a:ext cx="3322320" cy="201168"/>
          </a:xfrm>
          <a:prstGeom prst="rect">
            <a:avLst/>
          </a:prstGeom>
          <a:solidFill>
            <a:srgbClr val="22C55E">
              <a:alpha val="1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44256" y="4672584"/>
            <a:ext cx="332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zero activity this month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6400800"/>
            <a:ext cx="11430000" cy="256032"/>
          </a:xfrm>
          <a:prstGeom prst="rect">
            <a:avLst/>
          </a:prstGeom>
          <a:solidFill>
            <a:srgbClr val="1D223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6400800"/>
            <a:ext cx="11064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March was the worst month YTD — rate dropped 14.7pp from February. Root cause: locations not operationally ready — missing signage, undertrained staff, broken tablets, no card inventory.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F1117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91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8A02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91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29260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 DASHBOARD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YTD 2026 · Jan–Mar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1556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731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Month-by-Month Performance — 2026 vs 2025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113385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is down — and the rate of decline is accelerating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11430000" cy="347472"/>
          </a:xfrm>
          <a:prstGeom prst="rect">
            <a:avLst/>
          </a:prstGeom>
          <a:solidFill>
            <a:srgbClr val="1D2232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53619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468880" y="153619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ADDS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703320" y="153619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ADDS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937760" y="153619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897880" y="153619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REDEEMS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132320" y="1536192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REDEEMS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366760" y="153619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REDEEM YOY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326880" y="153619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RATE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287000" y="153619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RATE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247120" y="1536192"/>
            <a:ext cx="804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Δ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1901952"/>
            <a:ext cx="11430000" cy="512064"/>
          </a:xfrm>
          <a:prstGeom prst="rect">
            <a:avLst/>
          </a:prstGeom>
          <a:solidFill>
            <a:srgbClr val="181C27"/>
          </a:solidFill>
          <a:ln w="12700">
            <a:solidFill>
              <a:srgbClr val="1E2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197510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68880" y="1975104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$46,624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03320" y="1975104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$64,829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197510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24.0%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1975104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$34,898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132320" y="1975104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$50,880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366760" y="197510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31.4%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326880" y="197510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74.85%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287000" y="197510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78.48%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247120" y="1975104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3.6pp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2468880"/>
            <a:ext cx="11430000" cy="512064"/>
          </a:xfrm>
          <a:prstGeom prst="rect">
            <a:avLst/>
          </a:prstGeom>
          <a:solidFill>
            <a:srgbClr val="14171F"/>
          </a:solidFill>
          <a:ln w="12700">
            <a:solidFill>
              <a:srgbClr val="1E284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54203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68880" y="254203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$46,199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03320" y="254203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$55,822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937760" y="25420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17.2%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254203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$34,621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132320" y="2542032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$39,040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366760" y="25420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11.3%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9326880" y="25420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74.94%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287000" y="2542032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69.94%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1247120" y="2542032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5.0pp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035808"/>
            <a:ext cx="11430000" cy="512064"/>
          </a:xfrm>
          <a:prstGeom prst="rect">
            <a:avLst/>
          </a:prstGeom>
          <a:solidFill>
            <a:srgbClr val="1A0C0C"/>
          </a:solidFill>
          <a:ln w="12700">
            <a:solidFill>
              <a:srgbClr val="50000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3035808"/>
            <a:ext cx="64008" cy="512064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108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⚠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468880" y="31089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$45,248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703320" y="31089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$60,982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937760" y="31089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25.8%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897880" y="31089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$27,262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132320" y="31089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$41,805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366760" y="31089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34.8%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326880" y="31089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60.25%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287000" y="31089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68.55%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1247120" y="3108960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8.3pp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65760" y="3602736"/>
            <a:ext cx="11430000" cy="512064"/>
          </a:xfrm>
          <a:prstGeom prst="rect">
            <a:avLst/>
          </a:prstGeom>
          <a:solidFill>
            <a:srgbClr val="1D2232"/>
          </a:solidFill>
          <a:ln w="12700">
            <a:solidFill>
              <a:srgbClr val="1E284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36758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TOTAL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468880" y="367588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$138,071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703320" y="367588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$181,633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937760" y="367588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24.0%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5897880" y="367588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$96,782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7132320" y="3675888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$131,725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366760" y="367588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26.5%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326880" y="367588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70.10%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10287000" y="3675888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72.52%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11247120" y="3675888"/>
            <a:ext cx="804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2.4pp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65760" y="4343400"/>
            <a:ext cx="2766060" cy="2286000"/>
          </a:xfrm>
          <a:prstGeom prst="rect">
            <a:avLst/>
          </a:prstGeom>
          <a:solidFill>
            <a:srgbClr val="181C27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65760" y="4343400"/>
            <a:ext cx="64008" cy="22860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4462272"/>
            <a:ext cx="2583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530352" y="4846320"/>
            <a:ext cx="25831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adds down 25.8% YoY — the steepest single-month decline of the year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332988" y="4343400"/>
            <a:ext cx="2766060" cy="2286000"/>
          </a:xfrm>
          <a:prstGeom prst="rect">
            <a:avLst/>
          </a:prstGeom>
          <a:solidFill>
            <a:srgbClr val="181C27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332988" y="4343400"/>
            <a:ext cx="64008" cy="22860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497580" y="4462272"/>
            <a:ext cx="2583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3497580" y="4846320"/>
            <a:ext cx="25831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Redemption rate dropped 14.7pp in a single month — Feb 74.94% → Mar 60.25%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6300216" y="4343400"/>
            <a:ext cx="2766060" cy="2286000"/>
          </a:xfrm>
          <a:prstGeom prst="rect">
            <a:avLst/>
          </a:prstGeom>
          <a:solidFill>
            <a:srgbClr val="181C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6300216" y="4343400"/>
            <a:ext cx="64008" cy="2286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64808" y="4462272"/>
            <a:ext cx="2583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6464808" y="4846320"/>
            <a:ext cx="25831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showed a 5.0pp rate improvement — proving the program can recover quickly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9267444" y="4343400"/>
            <a:ext cx="2766060" cy="2286000"/>
          </a:xfrm>
          <a:prstGeom prst="rect">
            <a:avLst/>
          </a:prstGeom>
          <a:solidFill>
            <a:srgbClr val="181C27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9267444" y="4343400"/>
            <a:ext cx="64008" cy="22860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432036" y="4462272"/>
            <a:ext cx="2583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9432036" y="4846320"/>
            <a:ext cx="25831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target: restore March rate to Feb level (+14.7pp) and adds to 2025 pace (+24%)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F1117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91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8A02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91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29260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 DASHBOARD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YTD 2026 · Jan–Mar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1556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731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Health — March 2026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113385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of 50 locations active · 11 below 50% redemption rate · 7 completely inactive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08760"/>
            <a:ext cx="1798320" cy="1371600"/>
          </a:xfrm>
          <a:prstGeom prst="rect">
            <a:avLst/>
          </a:prstGeom>
          <a:solidFill>
            <a:srgbClr val="181C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508760"/>
            <a:ext cx="64008" cy="1371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600200"/>
            <a:ext cx="161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02920" y="1938528"/>
            <a:ext cx="161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02920" y="2395728"/>
            <a:ext cx="161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Rate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2606040"/>
            <a:ext cx="1615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locations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328672" y="1508760"/>
            <a:ext cx="1798320" cy="1371600"/>
          </a:xfrm>
          <a:prstGeom prst="rect">
            <a:avLst/>
          </a:prstGeom>
          <a:solidFill>
            <a:srgbClr val="181C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328672" y="1508760"/>
            <a:ext cx="64008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5832" y="1600200"/>
            <a:ext cx="161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465832" y="1938528"/>
            <a:ext cx="161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465832" y="2395728"/>
            <a:ext cx="161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50–69% Rate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465832" y="2606040"/>
            <a:ext cx="1615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improvement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91584" y="1508760"/>
            <a:ext cx="1798320" cy="1371600"/>
          </a:xfrm>
          <a:prstGeom prst="rect">
            <a:avLst/>
          </a:prstGeom>
          <a:solidFill>
            <a:srgbClr val="181C27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1584" y="1508760"/>
            <a:ext cx="64008" cy="13716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28744" y="1600200"/>
            <a:ext cx="161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428744" y="1938528"/>
            <a:ext cx="161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428744" y="2395728"/>
            <a:ext cx="161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50% Rate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428744" y="2606040"/>
            <a:ext cx="1615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attention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254496" y="1508760"/>
            <a:ext cx="1798320" cy="1371600"/>
          </a:xfrm>
          <a:prstGeom prst="rect">
            <a:avLst/>
          </a:prstGeom>
          <a:solidFill>
            <a:srgbClr val="181C27"/>
          </a:solidFill>
          <a:ln w="12700">
            <a:solidFill>
              <a:srgbClr val="5A637A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54496" y="1508760"/>
            <a:ext cx="64008" cy="1371600"/>
          </a:xfrm>
          <a:prstGeom prst="rect">
            <a:avLst/>
          </a:prstGeom>
          <a:solidFill>
            <a:srgbClr val="5A637A"/>
          </a:solidFill>
          <a:ln w="12700">
            <a:solidFill>
              <a:srgbClr val="5A63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91656" y="1600200"/>
            <a:ext cx="161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391656" y="1938528"/>
            <a:ext cx="161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391656" y="2395728"/>
            <a:ext cx="161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Activity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391656" y="2606040"/>
            <a:ext cx="1615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Hardware/onboarding?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17408" y="1508760"/>
            <a:ext cx="1798320" cy="1371600"/>
          </a:xfrm>
          <a:prstGeom prst="rect">
            <a:avLst/>
          </a:prstGeom>
          <a:solidFill>
            <a:srgbClr val="181C27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17408" y="1508760"/>
            <a:ext cx="64008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54568" y="1600200"/>
            <a:ext cx="161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354568" y="1938528"/>
            <a:ext cx="161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8354568" y="2395728"/>
            <a:ext cx="161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354568" y="2606040"/>
            <a:ext cx="1615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50 enrolled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0180320" y="1508760"/>
            <a:ext cx="1798320" cy="1371600"/>
          </a:xfrm>
          <a:prstGeom prst="rect">
            <a:avLst/>
          </a:prstGeom>
          <a:solidFill>
            <a:srgbClr val="181C27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180320" y="1508760"/>
            <a:ext cx="64008" cy="13716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17480" y="1600200"/>
            <a:ext cx="161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0317480" y="1938528"/>
            <a:ext cx="1615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$1.5K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10317480" y="2395728"/>
            <a:ext cx="1615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Below-50% Adds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0317480" y="2606040"/>
            <a:ext cx="1615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adds only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" y="3035808"/>
            <a:ext cx="5669280" cy="3520440"/>
          </a:xfrm>
          <a:prstGeom prst="rect">
            <a:avLst/>
          </a:prstGeom>
          <a:solidFill>
            <a:srgbClr val="181C27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5760" y="3035808"/>
            <a:ext cx="64008" cy="352044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108960"/>
            <a:ext cx="11338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CRITICAL — BELOW 50% REDEMPTION (11 LOCATIONS)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48640" y="333756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locations are actively hurting the program. When drivers can't redeem, they disengage — and low redemption signals operational failure, not low demand.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48640" y="3858768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signage at pump or register — drivers don't know the program exists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48640" y="4334256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not trained on enrollment flow or redemption process at POS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4809744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offline, uncharged, or physically missing from location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48640" y="528523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card inventory depleted — no new enrollments possible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48640" y="57607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integration broken or loyalty toggle turned OFF in Interstate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99632" y="3035808"/>
            <a:ext cx="5596128" cy="3520440"/>
          </a:xfrm>
          <a:prstGeom prst="rect">
            <a:avLst/>
          </a:prstGeom>
          <a:solidFill>
            <a:srgbClr val="181C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99632" y="3035808"/>
            <a:ext cx="64008" cy="3520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82512" y="3108960"/>
            <a:ext cx="5504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 7 ZERO-ACTIVITY LOCATIONS — LIKELY HARDWARE OR ONBOARDING FAILURE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382512" y="33375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location with zero activity has a hard stop somewhere in the chain. These require direct GS contact and a tablet/POS audit before any other action.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382512" y="3858768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never activated, reset, or shipped to location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382512" y="4334256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enrolled but never completed onboarding process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382512" y="4809744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connectivity failure preventing tablet sync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6382512" y="5285232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manager unaware the program is live at their stop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6382512" y="57607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Comdata/POS integration setup incomplete — loyalty never turned 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F1117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91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8A02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91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29260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 DASHBOARD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YTD 2026 · Jan–Mar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1556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731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— What Recovery Is Worth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1133856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Quantifying the gap between current performance and 2025 pace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2697480" cy="5138928"/>
          </a:xfrm>
          <a:prstGeom prst="rect">
            <a:avLst/>
          </a:prstGeom>
          <a:solidFill>
            <a:srgbClr val="181C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481328"/>
            <a:ext cx="64008" cy="5138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600200"/>
            <a:ext cx="1005840" cy="18288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6002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01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30352" y="18105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" y="217627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Adds to 2025 Pace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" y="2697480"/>
            <a:ext cx="2423160" cy="502920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2697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+$43,562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0352" y="324612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recovery in YTD add volume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30352" y="3520440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adds are running $43,562 below 2025 pace. Closing this gap requires re-activating the 7 zero-activity locations and bringing the 11 below-50% locations up to average network performance. This is recoverable — February showed adds were only down 17.2%, the best month YTD.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27832" y="1481328"/>
            <a:ext cx="2697480" cy="5138928"/>
          </a:xfrm>
          <a:prstGeom prst="rect">
            <a:avLst/>
          </a:prstGeom>
          <a:solidFill>
            <a:srgbClr val="181C2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27832" y="1481328"/>
            <a:ext cx="64008" cy="51389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92424" y="1600200"/>
            <a:ext cx="1005840" cy="182880"/>
          </a:xfrm>
          <a:prstGeom prst="rect">
            <a:avLst/>
          </a:prstGeom>
          <a:solidFill>
            <a:srgbClr val="00C8FF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2424" y="16002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02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392424" y="18105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92424" y="217627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March Redemption Rate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92424" y="2697480"/>
            <a:ext cx="2423160" cy="502920"/>
          </a:xfrm>
          <a:prstGeom prst="rect">
            <a:avLst/>
          </a:prstGeom>
          <a:solidFill>
            <a:srgbClr val="00C8FF">
              <a:alpha val="1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92424" y="2697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+$13,362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3392424" y="324612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Recovering Feb's 74.94% rate for March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92424" y="3520440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March redemption rate had held at February's 74.94% (instead of collapsing to 60.25%), an additional $13,362 in redeems would have been captured. The February rate proves locations CAN perform — March was an operational failure, not a structural one.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9904" y="1481328"/>
            <a:ext cx="2697480" cy="5138928"/>
          </a:xfrm>
          <a:prstGeom prst="rect">
            <a:avLst/>
          </a:prstGeom>
          <a:solidFill>
            <a:srgbClr val="181C27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9904" y="1481328"/>
            <a:ext cx="64008" cy="5138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54496" y="1600200"/>
            <a:ext cx="1005840" cy="18288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16002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03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254496" y="18105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254496" y="217627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7 Zero-Activity Locations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54496" y="2697480"/>
            <a:ext cx="2423160" cy="50292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2697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+$7K–$14K/mo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254496" y="324612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average network add rate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254496" y="3520440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enrolled locations produced $0 in March. At the average active location rate of ~$1,076/month in adds, restoring these 7 locations to baseline represents $7,500–$14,000 in monthly program volume. These are enrolled, paid locations that simply aren't performing.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951976" y="1481328"/>
            <a:ext cx="2697480" cy="5138928"/>
          </a:xfrm>
          <a:prstGeom prst="rect">
            <a:avLst/>
          </a:prstGeom>
          <a:solidFill>
            <a:srgbClr val="181C2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951976" y="1481328"/>
            <a:ext cx="64008" cy="5138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16568" y="1600200"/>
            <a:ext cx="1005840" cy="182880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16568" y="160020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04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9116568" y="181051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⛽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9116568" y="2176272"/>
            <a:ext cx="2423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21% Gallon Volume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116568" y="2697480"/>
            <a:ext cx="2423160" cy="502920"/>
          </a:xfrm>
          <a:prstGeom prst="rect">
            <a:avLst/>
          </a:prstGeom>
          <a:solidFill>
            <a:srgbClr val="A855F7">
              <a:alpha val="1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16568" y="2697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3.37M gal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9116568" y="3246120"/>
            <a:ext cx="2423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loyalty gallons vs 2025 YTD pace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116568" y="3520440"/>
            <a:ext cx="2423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3.37M loyalty gallons have been lost YTD vs 2025 pace. Each loyalty gallon represents a driver who chose Roady's specifically for the program. Gallon recovery requires fixing the operational issues that are causing drivers to disengage — signage, training, and active multiplier promotions.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F1117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91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8A02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91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29260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 DASHBOARD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YTD 2026 · Jan–Mar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1556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731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Action Plan — Operational Actions (1–3)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113385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the operational failures that are causing the decline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3642360" cy="5138928"/>
          </a:xfrm>
          <a:prstGeom prst="rect">
            <a:avLst/>
          </a:prstGeom>
          <a:solidFill>
            <a:srgbClr val="181C27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481328"/>
            <a:ext cx="64008" cy="5138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600200"/>
            <a:ext cx="1188720" cy="201168"/>
          </a:xfrm>
          <a:prstGeom prst="rect">
            <a:avLst/>
          </a:prstGeom>
          <a:solidFill>
            <a:srgbClr val="E8A020">
              <a:alpha val="2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6002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30352" y="1865376"/>
            <a:ext cx="332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🪧  ACTION 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2066544"/>
            <a:ext cx="3368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Signage Audit &amp; 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441448"/>
            <a:ext cx="3368040" cy="4087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all 50 network locations for Rewards signage at pump, register, and entrance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signage kits to any location missing materials — target: 2-week delivery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7 zero-activity and 11 below-50% locations first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placement: pump islands, POS counter, entrance — all three required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 photographs signage at every visit and logs compliance in Command Center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72712" y="1481328"/>
            <a:ext cx="3642360" cy="5138928"/>
          </a:xfrm>
          <a:prstGeom prst="rect">
            <a:avLst/>
          </a:prstGeom>
          <a:solidFill>
            <a:srgbClr val="181C2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72712" y="1481328"/>
            <a:ext cx="64008" cy="51389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37304" y="1600200"/>
            <a:ext cx="1188720" cy="201168"/>
          </a:xfrm>
          <a:prstGeom prst="rect">
            <a:avLst/>
          </a:prstGeom>
          <a:solidFill>
            <a:srgbClr val="00C8FF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37304" y="16002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337304" y="1865376"/>
            <a:ext cx="332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ACTION 02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37304" y="2066544"/>
            <a:ext cx="3368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Staff Training Sweep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37304" y="2441448"/>
            <a:ext cx="3368040" cy="4087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Roady's Training Academy Rewards module for all location staff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enrollment scripts, POS redemption flow, and dispute handling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18 locations below 70% redemption rate — likely a training gap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Training Academy completion per-user tracking before marking done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every shift has at least one fully trained Rewards-capable staff member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979664" y="1481328"/>
            <a:ext cx="3642360" cy="5138928"/>
          </a:xfrm>
          <a:prstGeom prst="rect">
            <a:avLst/>
          </a:prstGeom>
          <a:solidFill>
            <a:srgbClr val="181C2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79664" y="1481328"/>
            <a:ext cx="64008" cy="5138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44256" y="1600200"/>
            <a:ext cx="1188720" cy="201168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44256" y="16002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8144256" y="1865376"/>
            <a:ext cx="332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ACTION 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44256" y="2066544"/>
            <a:ext cx="3368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&amp; POS Integration Check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44256" y="2441448"/>
            <a:ext cx="3368040" cy="4087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every location — confirm tablet is present, charged, and operational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locations are POS-integrated vs tablet-only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broken/offline tablets for immediate replacement or repair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all 7 zero-activity locations — almost certainly a hardware issue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toward SmartDESQ/SmartAuth integration at high-volume tablet-only stops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F1117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91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8A02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91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29260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 DASHBOARD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YTD 2026 · Jan–Mar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1556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731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Action Plan — Member Retention Actions (4–5)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113385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the driver disengagement and re-building loyalty program momentum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5669280" cy="5138928"/>
          </a:xfrm>
          <a:prstGeom prst="rect">
            <a:avLst/>
          </a:prstGeom>
          <a:solidFill>
            <a:srgbClr val="181C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481328"/>
            <a:ext cx="64008" cy="5138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" y="1600200"/>
            <a:ext cx="1188720" cy="201168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16002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RETENTION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30352" y="1865376"/>
            <a:ext cx="5349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ACTION 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2066544"/>
            <a:ext cx="5394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Card Inventory Replenishment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0352" y="2441448"/>
            <a:ext cx="5394960" cy="4087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all 50 locations for current physical card inventory levels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minimum stock threshold — recommend 50 cards per location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 card shipments to locations reporting low or zero inventory immediately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auto-replenishment trigger when stock drops below threshold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cards issued vs new member enrollments — flag gaps by GS territory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location without cards cannot enroll new members — silent program killer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99632" y="1481328"/>
            <a:ext cx="5596128" cy="5138928"/>
          </a:xfrm>
          <a:prstGeom prst="rect">
            <a:avLst/>
          </a:prstGeom>
          <a:solidFill>
            <a:srgbClr val="181C27"/>
          </a:solidFill>
          <a:ln w="12700">
            <a:solidFill>
              <a:srgbClr val="E8404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99632" y="1481328"/>
            <a:ext cx="64008" cy="5138928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64224" y="1600200"/>
            <a:ext cx="1188720" cy="201168"/>
          </a:xfrm>
          <a:prstGeom prst="rect">
            <a:avLst/>
          </a:prstGeom>
          <a:solidFill>
            <a:srgbClr val="E84040">
              <a:alpha val="20000"/>
            </a:srgbClr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64224" y="16002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GALLONS + RETENTION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364224" y="1865376"/>
            <a:ext cx="5276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ACTION 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64224" y="2066544"/>
            <a:ext cx="5321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Strategist Outreach — Low Performers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64224" y="2441448"/>
            <a:ext cx="5321808" cy="4087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18 priority locations (11 below-50% + 7 zero-activity) with full metrics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Adds $, Redeems $, Rate, % change, and gallons for each location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Growth Strategist with opportunity estimate per location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 makes direct phone contact with each location manager — not email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operational readiness on each call: signage, tablet, cards, training</a:t>
            </a:r>
            <a:endParaRPr lang="en-US" sz="950" dirty="0"/>
          </a:p>
          <a:p>
            <a:pPr marL="342900" indent="-342900">
              <a:lnSpc>
                <a:spcPct val="210000"/>
              </a:lnSpc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each location's rate the following month and report back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6675120"/>
            <a:ext cx="11430000" cy="0"/>
          </a:xfrm>
          <a:prstGeom prst="line">
            <a:avLst/>
          </a:prstGeom>
          <a:noFill/>
          <a:ln w="12700">
            <a:solidFill>
              <a:srgbClr val="252E4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F1117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91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8A02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91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29260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 DASHBOARD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YTD 2026 · Jan–Mar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1556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731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06 — Rewards Promotions App Integration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1133856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live promotion feed into the Roady's Rewards App with QR-code redemption at the register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11430000" cy="420624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481328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 Currently In Planning Phase  ·  Target: Q3–Q4 2026  ·  Command Center Promotions Dashboard Already Built &amp; Ready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011680"/>
            <a:ext cx="1152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FLOW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2231136"/>
            <a:ext cx="2743200" cy="1627632"/>
          </a:xfrm>
          <a:prstGeom prst="rect">
            <a:avLst/>
          </a:prstGeom>
          <a:solidFill>
            <a:srgbClr val="181C2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231136"/>
            <a:ext cx="64008" cy="162763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31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" y="26974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971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 promos — toggle active, set featured, assign QR codes to locations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154680" y="3044952"/>
            <a:ext cx="91440" cy="0"/>
          </a:xfrm>
          <a:prstGeom prst="line">
            <a:avLst/>
          </a:prstGeom>
          <a:noFill/>
          <a:ln w="12700">
            <a:solidFill>
              <a:srgbClr val="5A63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2231136"/>
            <a:ext cx="2743200" cy="1627632"/>
          </a:xfrm>
          <a:prstGeom prst="rect">
            <a:avLst/>
          </a:prstGeom>
          <a:solidFill>
            <a:srgbClr val="181C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2231136"/>
            <a:ext cx="64008" cy="16276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331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383280" y="26974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API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971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REST endpoint serves active promos per location_id as JSON in real time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3044952"/>
            <a:ext cx="91440" cy="0"/>
          </a:xfrm>
          <a:prstGeom prst="line">
            <a:avLst/>
          </a:prstGeom>
          <a:noFill/>
          <a:ln w="12700">
            <a:solidFill>
              <a:srgbClr val="5A63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231136"/>
            <a:ext cx="2743200" cy="1627632"/>
          </a:xfrm>
          <a:prstGeom prst="rect">
            <a:avLst/>
          </a:prstGeom>
          <a:solidFill>
            <a:srgbClr val="181C27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231136"/>
            <a:ext cx="64008" cy="16276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331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263640" y="26974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Driver's App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971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tab on location detail screen · Featured carousel + full list · Tap for QR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915400" y="3044952"/>
            <a:ext cx="91440" cy="0"/>
          </a:xfrm>
          <a:prstGeom prst="line">
            <a:avLst/>
          </a:prstGeom>
          <a:noFill/>
          <a:ln w="12700">
            <a:solidFill>
              <a:srgbClr val="5A63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06840" y="2231136"/>
            <a:ext cx="2743200" cy="1627632"/>
          </a:xfrm>
          <a:prstGeom prst="rect">
            <a:avLst/>
          </a:prstGeom>
          <a:solidFill>
            <a:srgbClr val="181C2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006840" y="2231136"/>
            <a:ext cx="64008" cy="16276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0" y="23317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9144000" y="26974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Scan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0" y="297180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scans driver QR code at POS register — discount applies instantly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4005072"/>
            <a:ext cx="1152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KEY DECISION PENDING — Q3/Q4 2026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" y="4224528"/>
            <a:ext cx="5577840" cy="2395728"/>
          </a:xfrm>
          <a:prstGeom prst="rect">
            <a:avLst/>
          </a:prstGeom>
          <a:solidFill>
            <a:srgbClr val="181C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5760" y="4224528"/>
            <a:ext cx="64008" cy="2395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4224528"/>
            <a:ext cx="5577840" cy="310896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0352" y="4224528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 —  TRUCK STOP SELECTS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0352" y="459943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location opts in to specific promos from the library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0352" y="5038344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product relevance — stop shows only what it carries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30352" y="5477256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vendor-funded promos tied to per-stop inventory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30352" y="591616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to manage at scale across the full network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0352" y="630936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Varying inventory · Vendor pays per-location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08192" y="4224528"/>
            <a:ext cx="5577840" cy="2395728"/>
          </a:xfrm>
          <a:prstGeom prst="rect">
            <a:avLst/>
          </a:prstGeom>
          <a:solidFill>
            <a:srgbClr val="181C2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108192" y="4224528"/>
            <a:ext cx="64008" cy="239572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08192" y="4224528"/>
            <a:ext cx="5577840" cy="310896"/>
          </a:xfrm>
          <a:prstGeom prst="rect">
            <a:avLst/>
          </a:prstGeom>
          <a:solidFill>
            <a:srgbClr val="00C8FF">
              <a:alpha val="2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72784" y="4224528"/>
            <a:ext cx="5394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 —  ROADY'S CONTROLS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72784" y="459943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pushes promos network-wide from Command Center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272784" y="5038344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driver experience at every participating stop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72784" y="5477256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launch — no per-stop configuration required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272784" y="591616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negotiate vendor funding at the network level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72784" y="6309360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Fast rollout · Network-level vendor deals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F1117"/>
          </a:solidFill>
          <a:ln w="12700">
            <a:solidFill>
              <a:srgbClr val="252E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56032" cy="5669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9144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8A020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2336" y="91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914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ROADY'S REWARDS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9536" y="292608"/>
            <a:ext cx="4114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400" kern="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PERFORMANCE DASHBOARD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solidFill>
            <a:srgbClr val="E8A020">
              <a:alpha val="12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463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YTD 2026 · Jan–Mar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1155680" y="16459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731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Roadmap &amp; Support Needed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5760" y="113385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implementation timeline · Resources required from Leadership and Operations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481328"/>
            <a:ext cx="1152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PHASES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1691640"/>
            <a:ext cx="2697480" cy="3017520"/>
          </a:xfrm>
          <a:prstGeom prst="rect">
            <a:avLst/>
          </a:prstGeom>
          <a:solidFill>
            <a:srgbClr val="181C2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691640"/>
            <a:ext cx="64008" cy="3017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1783080"/>
            <a:ext cx="384048" cy="384048"/>
          </a:xfrm>
          <a:prstGeom prst="ellipse">
            <a:avLst/>
          </a:prstGeom>
          <a:solidFill>
            <a:srgbClr val="22C55E">
              <a:alpha val="22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18288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0352" y="2212848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Model + Build API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" y="25968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Option A vs 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" y="303580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Supabase: promotions, location_promotions, redemptions tables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30352" y="347472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GET /api/promotions?location_id=X endpoint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" y="391363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'Push to App' button in Command Center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0352" y="4352544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QR code testing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27832" y="1691640"/>
            <a:ext cx="2697480" cy="3017520"/>
          </a:xfrm>
          <a:prstGeom prst="rect">
            <a:avLst/>
          </a:prstGeom>
          <a:solidFill>
            <a:srgbClr val="181C2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27832" y="1691640"/>
            <a:ext cx="64008" cy="30175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92424" y="1783080"/>
            <a:ext cx="384048" cy="384048"/>
          </a:xfrm>
          <a:prstGeom prst="ellipse">
            <a:avLst/>
          </a:prstGeom>
          <a:solidFill>
            <a:srgbClr val="00C8FF">
              <a:alpha val="22000"/>
            </a:srgbClr>
          </a:solidFill>
          <a:ln w="19050">
            <a:solidFill>
              <a:srgbClr val="00C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86200" y="18288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92424" y="2212848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Scanner + 5–10 Stop Pilot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392424" y="25968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scan.roadys.com — PIN-protected QR scanner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92424" y="303580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change or app install required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92424" y="347472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2-week pilot at selected stops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92424" y="391363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redemption data · Confirm reconciliation accuracy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89904" y="1691640"/>
            <a:ext cx="2697480" cy="3017520"/>
          </a:xfrm>
          <a:prstGeom prst="rect">
            <a:avLst/>
          </a:prstGeom>
          <a:solidFill>
            <a:srgbClr val="181C27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9904" y="1691640"/>
            <a:ext cx="64008" cy="30175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54496" y="1783080"/>
            <a:ext cx="384048" cy="384048"/>
          </a:xfrm>
          <a:prstGeom prst="ellipse">
            <a:avLst/>
          </a:prstGeom>
          <a:solidFill>
            <a:srgbClr val="E8A020">
              <a:alpha val="22000"/>
            </a:srgbClr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48272" y="18288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254496" y="2212848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App + Tablet Update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254496" y="25968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Promotions tab to driver-facing Roady's Rewards App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54496" y="303580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Android Rewards Tablet with 'Scan Promo' screen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54496" y="347472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pilot to 25+ stops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54496" y="391363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Comdata/PDI integration extension request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951976" y="1691640"/>
            <a:ext cx="2697480" cy="3017520"/>
          </a:xfrm>
          <a:prstGeom prst="rect">
            <a:avLst/>
          </a:prstGeom>
          <a:solidFill>
            <a:srgbClr val="181C27"/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951976" y="1691640"/>
            <a:ext cx="64008" cy="30175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16568" y="1783080"/>
            <a:ext cx="384048" cy="384048"/>
          </a:xfrm>
          <a:prstGeom prst="ellipse">
            <a:avLst/>
          </a:prstGeom>
          <a:solidFill>
            <a:srgbClr val="A855F7">
              <a:alpha val="22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16568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610344" y="18288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9116568" y="2212848"/>
            <a:ext cx="2441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0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+ Comdata Native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116568" y="2596896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network deployment across all enrolled stops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9116568" y="3035808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Comdata native QR scan via SmartDESQ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116568" y="3474720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Vendor-funded promotion deals at network level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116568" y="391363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Console reimbursement statements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65760" y="4864608"/>
            <a:ext cx="11521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5A63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SUPPORT WE NEED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65760" y="5047488"/>
            <a:ext cx="5760720" cy="1691640"/>
          </a:xfrm>
          <a:prstGeom prst="rect">
            <a:avLst/>
          </a:prstGeom>
          <a:solidFill>
            <a:srgbClr val="181C27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5047488"/>
            <a:ext cx="64008" cy="16916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5120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From Leadership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48640" y="54589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to expedite signage and card shipments to 18 priority locations this month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8640" y="5806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Strategist capacity allocated for direct outreach to below-50% and zero-activity locations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48640" y="615391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approval for tablet replacements at locations confirmed to have hardware issues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" y="650138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that Training Academy completion is tracked and required for all location staff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355080" y="5047488"/>
            <a:ext cx="5760720" cy="1691640"/>
          </a:xfrm>
          <a:prstGeom prst="rect">
            <a:avLst/>
          </a:prstGeom>
          <a:solidFill>
            <a:srgbClr val="181C27"/>
          </a:solidFill>
          <a:ln w="12700">
            <a:solidFill>
              <a:srgbClr val="00C8FF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40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355080" y="5047488"/>
            <a:ext cx="64008" cy="16916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37960" y="5120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From Operations &amp; IT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6537960" y="545896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audit report — online/offline status and last transaction date for all 50 locations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537960" y="5806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integration status list — SmartDESQ/SmartAuth vs tablet-only per location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537960" y="6153912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inventory report — current stock levels at each enrolled location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537960" y="6501384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9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Console access confirmed for all active location managers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Roady's Rewards — 2026 Improvement Plan</dc:title>
  <dc:subject>PptxGenJS Presentation</dc:subject>
  <dc:creator>Roady's Truck Stops</dc:creator>
  <cp:lastModifiedBy>Roady's Truck Stops</cp:lastModifiedBy>
  <cp:revision>1</cp:revision>
  <dcterms:created xsi:type="dcterms:W3CDTF">2026-03-27T16:39:44Z</dcterms:created>
  <dcterms:modified xsi:type="dcterms:W3CDTF">2026-03-27T16:39:44Z</dcterms:modified>
</cp:coreProperties>
</file>